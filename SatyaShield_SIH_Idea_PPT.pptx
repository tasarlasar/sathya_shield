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howSpecialPlsOnTitleSld="0">
  <p:sldMasterIdLst>
    <p:sldMasterId id="2147483660" r:id="rId1"/>
  </p:sldMasterIdLst>
  <p:notesMasterIdLst>
    <p:notesMasterId r:id="rId2"/>
  </p:notesMasterIdLst>
  <p:sldIdLst>
    <p:sldId id="271" r:id="rId3"/>
    <p:sldId id="272" r:id="rId4"/>
    <p:sldId id="273" r:id="rId5"/>
    <p:sldId id="274" r:id="rId6"/>
    <p:sldId id="275" r:id="rId7"/>
    <p:sldId id="276" r:id="rId8"/>
  </p:sldIdLst>
  <p:sldSz type="screen16x9" cy="6858000" cx="12192000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algn="l" defTabSz="914400" eaLnBrk="1" hangingPunct="1" latinLnBrk="0" marL="22860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algn="l" defTabSz="914400" eaLnBrk="1" hangingPunct="1" latinLnBrk="0" marL="27432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algn="l" defTabSz="914400" eaLnBrk="1" hangingPunct="1" latinLnBrk="0" marL="32004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algn="l" defTabSz="914400" eaLnBrk="1" hangingPunct="1" latinLnBrk="0" marL="3657600" rtl="0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9BBB59"/>
    <a:srgbClr val="39B0D4"/>
    <a:srgbClr val="727272"/>
    <a:srgbClr val="010000"/>
    <a:srgbClr val="FFA751"/>
    <a:srgbClr val="32323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6/26/2025</a:t>
            </a:fld>
            <a:endParaRPr lang="en-US"/>
          </a:p>
        </p:txBody>
      </p:sp>
      <p:sp>
        <p:nvSpPr>
          <p:cNvPr id="1048701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pPr lvl="0"/>
            <a:endParaRPr lang="en-US" noProof="0"/>
          </a:p>
        </p:txBody>
      </p:sp>
      <p:sp>
        <p:nvSpPr>
          <p:cNvPr id="104870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0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70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457200" eaLnBrk="0" fontAlgn="base" hangingPunct="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algn="l" defTabSz="457200" eaLnBrk="0" fontAlgn="base" hangingPunct="0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algn="l" defTabSz="457200" eaLnBrk="0" fontAlgn="base" hangingPunct="0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algn="l" defTabSz="457200" eaLnBrk="0" fontAlgn="base" hangingPunct="0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algn="l" defTabSz="457200" eaLnBrk="0" fontAlgn="base" hangingPunct="0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algn="l" defTabSz="4572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1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2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Slide Image Placeholder 1"/>
          <p:cNvSpPr>
            <a:spLocks noChangeAspect="1" noRot="1" noGrp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anchor="t" anchorCtr="0" compatLnSpc="1" numCol="1" wrap="square">
            <a:prstTxWarp prst="textNoShape"/>
          </a:bodyPr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baseline="0" b="0" cap="none" sz="12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2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10486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77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10486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8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10486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10486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4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104869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1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62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6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10486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5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10486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@SIH Idea submission- Template</a:t>
            </a:r>
          </a:p>
        </p:txBody>
      </p:sp>
      <p:sp>
        <p:nvSpPr>
          <p:cNvPr id="10486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ctr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anchor="t" anchorCtr="0" bIns="45720" compatLnSpc="1" lIns="91440" numCol="1" rIns="91440" tIns="45720" vert="horz" wrap="square">
            <a:prstTxWarp prst="textNoShape"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/>
        </p:spPr>
        <p:txBody>
          <a:bodyPr anchor="ctr" bIns="45720" lIns="91440" rIns="91440" rtlCol="0" tIns="45720" vert="horz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r>
              <a:rPr lang="en-US"/>
              <a:t>@SIH Idea submission- Template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/>
        </p:spPr>
        <p:txBody>
          <a:bodyPr anchor="ctr" anchorCtr="0" bIns="45720" compatLnSpc="1" lIns="91440" numCol="1" rIns="91440" tIns="45720" vert="horz" wrap="square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1" hdr="0" sldNum="1"/>
  <p:txStyles>
    <p:titleStyle>
      <a:lvl1pPr algn="ctr" defTabSz="457200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586" name="Rectangle 24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/>
          </a:p>
        </p:txBody>
      </p:sp>
      <p:sp>
        <p:nvSpPr>
          <p:cNvPr id="1048587" name="Freeform: Shape 26"/>
          <p:cNvSpPr>
            <a:spLocks noChangeAspect="1" noMove="1" noResize="1" noRot="1" noGrp="1" noAdjustHandles="1" noEditPoint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/>
            <a:endParaRPr lang="en-US"/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/>
        </p:spPr>
      </p:pic>
      <p:sp>
        <p:nvSpPr>
          <p:cNvPr id="1048588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p>
            <a:endParaRPr b="1" dirty="0"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b="1" dirty="0"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p>
            <a:r>
              <a:rPr b="1" dirty="0" sz="3200" lang="en-US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b="1" dirty="0" sz="3200" lang="en-US" smtClean="0">
                <a:solidFill>
                  <a:schemeClr val="tx2"/>
                </a:solidFill>
                <a:latin typeface="Garamond" panose="02020404030301010803" pitchFamily="18" charset="0"/>
              </a:rPr>
              <a:t>202</a:t>
            </a:r>
            <a:r>
              <a:rPr b="1" dirty="0" sz="3200" lang="en-US" smtClean="0">
                <a:solidFill>
                  <a:schemeClr val="tx2"/>
                </a:solidFill>
                <a:latin typeface="Garamond" panose="02020404030301010803" pitchFamily="18" charset="0"/>
              </a:rPr>
              <a:t>6</a:t>
            </a:r>
            <a:endParaRPr b="1" dirty="0" sz="4000" lang="en-IN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48590" name="TextBox 9"/>
          <p:cNvSpPr txBox="1"/>
          <p:nvPr/>
        </p:nvSpPr>
        <p:spPr>
          <a:xfrm>
            <a:off x="331286" y="2076450"/>
            <a:ext cx="5924550" cy="4625340"/>
          </a:xfrm>
          <a:prstGeom prst="rect"/>
          <a:noFill/>
        </p:spPr>
        <p:txBody>
          <a:bodyPr rtlCol="0" wrap="square">
            <a:spAutoFit/>
          </a:bodyPr>
          <a:p>
            <a:endParaRPr dirty="0" lang="en-US"/>
          </a:p>
          <a:p>
            <a:pPr algn="just" indent="-285750" marL="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b="1" dirty="0" sz="2000" lang="en-US">
                <a:latin typeface="Arial" panose="020B0604020202020204" pitchFamily="34" charset="0"/>
                <a:cs typeface="Arial" panose="020B0604020202020204" pitchFamily="34" charset="0"/>
              </a:rPr>
              <a:t>Problem Statement ID – [Insert PS ID from SIH portal]</a:t>
            </a:r>
          </a:p>
          <a:p>
            <a:pPr algn="just" indent="-285750" marL="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b="1" dirty="0" sz="2000" lang="en-US">
                <a:latin typeface="Arial" panose="020B0604020202020204" pitchFamily="34" charset="0"/>
                <a:cs typeface="Arial" panose="020B0604020202020204" pitchFamily="34" charset="0"/>
              </a:rPr>
              <a:t>Problem Statement Title- AI-Based Phishing and Deepfake Detection System</a:t>
            </a:r>
          </a:p>
          <a:p>
            <a:pPr algn="just" indent="-285750" marL="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b="1" dirty="0" sz="2000" lang="en-US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algn="just" indent="-285750" marL="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b="1" dirty="0" sz="2000" lang="en-US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algn="just" indent="-285750" marL="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b="1" dirty="0" sz="2000" lang="en-US">
                <a:latin typeface="Arial" panose="020B0604020202020204" pitchFamily="34" charset="0"/>
                <a:cs typeface="Arial" panose="020B0604020202020204" pitchFamily="34" charset="0"/>
              </a:rPr>
              <a:t>Team ID- [Insert Team ID]</a:t>
            </a:r>
          </a:p>
          <a:p>
            <a:pPr algn="just" indent="-285750" marL="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b="1" dirty="0" sz="2000" lang="en-US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[Insert Team Name]</a:t>
            </a:r>
            <a:endParaRPr b="1" dirty="0" sz="2400"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97153" name="Picture 2" descr="https://www.sih.gov.in/img1/SIH-Logo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2"/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/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dirty="0"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048598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40941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indent="-342900" marL="342900">
              <a:buFont typeface="Wingdings" panose="05000000000000000000" pitchFamily="2" charset="2"/>
              <a:buChar char="v"/>
            </a:pPr>
            <a:r>
              <a:rPr b="1" dirty="0" sz="3200" lang="en-US" u="sng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dirty="0" sz="3200" lang="en-US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indent="-342900" marL="342900">
              <a:buFont typeface="Arial" panose="020B0604020202020204" pitchFamily="34" charset="0"/>
              <a:buChar char="•"/>
            </a:pPr>
            <a:endParaRPr dirty="0" sz="2000" lang="en-US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  <a:r>
              <a:rPr dirty="0" sz="1700" i="1" lang="en-US">
                <a:solidFill>
                  <a:srgbClr val="1F3864"/>
                </a:solidFill>
                <a:latin typeface="Arial" pitchFamily="34" charset="0"/>
                <a:cs typeface="Arial" pitchFamily="34" charset="0"/>
              </a:rPr>
              <a:t>A unified AI trust engine: one explainable Trust Score for a link, email, video, or voice clip.</a:t>
            </a:r>
          </a:p>
          <a:p>
            <a:pPr indent="-342900" marL="342900">
              <a:buFont typeface="Arial" panose="020B0604020202020204" pitchFamily="34" charset="0"/>
              <a:buChar char="•"/>
            </a:pPr>
            <a:endParaRPr dirty="0" sz="2000" lang="en-US" u="sng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Four parallel detectors: phishing URL classifier, phishing email classifier, deepfake video/image detector, deepfake audio detector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A fusion engine combines all four outputs into one 0–100 Trust Score with a plain-language explanation (English / Tamil / Hindi)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Delivered via a web dashboard, a browser extension, and a WhatsApp bot — the channel most fraud already travels through in India</a:t>
            </a: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Covers all four vectors named in the problem statement — phishing emails, malicious websites, deepfake audio, deepfake video — under one system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Converts raw model output into a clear risk score and warning a non-technical user can act on immediately</a:t>
            </a: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Most tools solve one vector in isolation; SatyaShield fuses all four into a single explainable verdict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Explainability-first: heatmaps, flagged phrases, and red-flag breakdowns — not just a black-box score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Built around India's actual fraud channel (WhatsApp) and languages (Tamil / Hindi), not a generic English-only tool</a:t>
            </a:r>
          </a:p>
        </p:txBody>
      </p:sp>
      <p:sp>
        <p:nvSpPr>
          <p:cNvPr id="10485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b="1" lang="en-US" smtClean="0">
                <a:solidFill>
                  <a:schemeClr val="bg1"/>
                </a:solidFill>
              </a:rPr>
              <a:t>2</a:t>
            </a:fld>
            <a:endParaRPr b="1" dirty="0" lang="en-US">
              <a:solidFill>
                <a:schemeClr val="bg1"/>
              </a:solidFill>
            </a:endParaRPr>
          </a:p>
        </p:txBody>
      </p:sp>
      <p:sp>
        <p:nvSpPr>
          <p:cNvPr id="104860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dirty="0" lang="en-US">
              <a:solidFill>
                <a:schemeClr val="bg1"/>
              </a:solidFill>
            </a:endParaRPr>
          </a:p>
        </p:txBody>
      </p:sp>
      <p:sp>
        <p:nvSpPr>
          <p:cNvPr id="1048601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[Team Name]</a:t>
            </a:r>
            <a:endParaRPr dirty="0" lang="en-IN"/>
          </a:p>
        </p:txBody>
      </p:sp>
      <p:pic>
        <p:nvPicPr>
          <p:cNvPr id="2097154" name="Picture 2" descr="https://www.sih.gov.in/img1/SIH-Logo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/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dirty="0"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048607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8686800" cy="1767841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Backend: Python, FastAPI  •  Frontend: React web dashboard + Chrome extension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Models: XGBoost (URL) · DistilBERT / TF-IDF (email text) · Xception / MesoNet (deepfake video) · MFCC + classifier (deepfake audio)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Explainability: Grad-CAM heatmaps, keyword and feature-importance highlighting</a:t>
            </a:r>
          </a:p>
          <a:p>
            <a:pPr algn="just" indent="-342900" marL="342900">
              <a:buFont typeface="Arial" panose="020B0604020202020204" pitchFamily="34" charset="0"/>
              <a:buChar char="•"/>
            </a:pPr>
            <a:r>
              <a:rPr dirty="0" sz="2800" lang="en-US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Four detectors run in parallel on the input; outputs feed a Weighted Risk Fusion engine, which produces one Trust Score and explanation (see flow below)</a:t>
            </a:r>
          </a:p>
        </p:txBody>
      </p:sp>
      <p:sp>
        <p:nvSpPr>
          <p:cNvPr id="10486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b="1" lang="en-US">
                <a:solidFill>
                  <a:schemeClr val="bg1"/>
                </a:solidFill>
              </a:rPr>
              <a:t>3</a:t>
            </a:fld>
            <a:endParaRPr b="1" dirty="0" lang="en-US">
              <a:solidFill>
                <a:schemeClr val="bg1"/>
              </a:solidFill>
            </a:endParaRPr>
          </a:p>
        </p:txBody>
      </p:sp>
      <p:sp>
        <p:nvSpPr>
          <p:cNvPr id="1048609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dirty="0" lang="en-US">
              <a:solidFill>
                <a:schemeClr val="bg1"/>
              </a:solidFill>
            </a:endParaRPr>
          </a:p>
        </p:txBody>
      </p:sp>
      <p:sp>
        <p:nvSpPr>
          <p:cNvPr id="1048610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[Team Name]</a:t>
            </a:r>
            <a:endParaRPr dirty="0" lang="en-IN"/>
          </a:p>
        </p:txBody>
      </p:sp>
      <p:pic>
        <p:nvPicPr>
          <p:cNvPr id="2097155" name="Picture 2" descr="https://www.sih.gov.in/img1/SIH-Logo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/>
          <a:noFill/>
        </p:spPr>
      </p:pic>
      <p:sp>
        <p:nvSpPr>
          <p:cNvPr id="0" name="DiagBox"/>
          <p:cNvSpPr/>
          <p:nvPr/>
        </p:nvSpPr>
        <p:spPr>
          <a:xfrm>
            <a:off x="9950000" y="2450000"/>
            <a:ext cx="2050000" cy="380000"/>
          </a:xfrm>
          <a:prstGeom prst="roundRect">
            <a:avLst/>
          </a:prstGeom>
          <a:solidFill>
            <a:srgbClr val="1F4E79"/>
          </a:solidFill>
          <a:ln w="9525">
            <a:noFill/>
          </a:ln>
        </p:spPr>
        <p:txBody>
          <a:bodyPr wrap="square" lIns="45720" tIns="18288" rIns="45720" bIns="18288" anchor="ctr">
            <a:noAutofit/>
          </a:bodyPr>
          <a:p>
            <a:pPr algn="ctr"/>
            <a:r>
              <a:rPr sz="1000" b="1" 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URL / Website</a:t>
            </a:r>
          </a:p>
        </p:txBody>
      </p:sp>
      <p:sp>
        <p:nvSpPr>
          <p:cNvPr id="0" name="DiagBox"/>
          <p:cNvSpPr/>
          <p:nvPr/>
        </p:nvSpPr>
        <p:spPr>
          <a:xfrm>
            <a:off x="9950000" y="2920000"/>
            <a:ext cx="2050000" cy="380000"/>
          </a:xfrm>
          <a:prstGeom prst="roundRect">
            <a:avLst/>
          </a:prstGeom>
          <a:solidFill>
            <a:srgbClr val="1F4E79"/>
          </a:solidFill>
          <a:ln w="9525">
            <a:noFill/>
          </a:ln>
        </p:spPr>
        <p:txBody>
          <a:bodyPr wrap="square" lIns="45720" tIns="18288" rIns="45720" bIns="18288" anchor="ctr">
            <a:noAutofit/>
          </a:bodyPr>
          <a:p>
            <a:pPr algn="ctr"/>
            <a:r>
              <a:rPr sz="1000" b="1" 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Email Text</a:t>
            </a:r>
          </a:p>
        </p:txBody>
      </p:sp>
      <p:sp>
        <p:nvSpPr>
          <p:cNvPr id="0" name="DiagBox"/>
          <p:cNvSpPr/>
          <p:nvPr/>
        </p:nvSpPr>
        <p:spPr>
          <a:xfrm>
            <a:off x="9950000" y="3390000"/>
            <a:ext cx="2050000" cy="380000"/>
          </a:xfrm>
          <a:prstGeom prst="roundRect">
            <a:avLst/>
          </a:prstGeom>
          <a:solidFill>
            <a:srgbClr val="1F4E79"/>
          </a:solidFill>
          <a:ln w="9525">
            <a:noFill/>
          </a:ln>
        </p:spPr>
        <p:txBody>
          <a:bodyPr wrap="square" lIns="45720" tIns="18288" rIns="45720" bIns="18288" anchor="ctr">
            <a:noAutofit/>
          </a:bodyPr>
          <a:p>
            <a:pPr algn="ctr"/>
            <a:r>
              <a:rPr sz="1000" b="1" 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Video / Image</a:t>
            </a:r>
          </a:p>
        </p:txBody>
      </p:sp>
      <p:sp>
        <p:nvSpPr>
          <p:cNvPr id="0" name="DiagBox"/>
          <p:cNvSpPr/>
          <p:nvPr/>
        </p:nvSpPr>
        <p:spPr>
          <a:xfrm>
            <a:off x="9950000" y="3860000"/>
            <a:ext cx="2050000" cy="380000"/>
          </a:xfrm>
          <a:prstGeom prst="roundRect">
            <a:avLst/>
          </a:prstGeom>
          <a:solidFill>
            <a:srgbClr val="1F4E79"/>
          </a:solidFill>
          <a:ln w="9525">
            <a:noFill/>
          </a:ln>
        </p:spPr>
        <p:txBody>
          <a:bodyPr wrap="square" lIns="45720" tIns="18288" rIns="45720" bIns="18288" anchor="ctr">
            <a:noAutofit/>
          </a:bodyPr>
          <a:p>
            <a:pPr algn="ctr"/>
            <a:r>
              <a:rPr sz="1000" b="1" 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Audio Clip</a:t>
            </a:r>
          </a:p>
        </p:txBody>
      </p:sp>
      <p:sp>
        <p:nvSpPr>
          <p:cNvPr id="0" name="DiagArrow"/>
          <p:cNvSpPr/>
          <p:nvPr/>
        </p:nvSpPr>
        <p:spPr>
          <a:xfrm>
            <a:off x="10845000" y="4330000"/>
            <a:ext cx="260000" cy="160000"/>
          </a:xfrm>
          <a:prstGeom prst="downArrow">
            <a:avLst/>
          </a:prstGeom>
          <a:solidFill>
            <a:srgbClr val="7F7F7F"/>
          </a:solidFill>
          <a:ln>
            <a:noFill/>
          </a:ln>
        </p:spPr>
        <p:txBody>
          <a:bodyPr/>
          <a:p>
            <a:endParaRPr lang="en-US"/>
          </a:p>
        </p:txBody>
      </p:sp>
      <p:sp>
        <p:nvSpPr>
          <p:cNvPr id="0" name="DiagBox"/>
          <p:cNvSpPr/>
          <p:nvPr/>
        </p:nvSpPr>
        <p:spPr>
          <a:xfrm>
            <a:off x="9950000" y="4530000"/>
            <a:ext cx="2050000" cy="560000"/>
          </a:xfrm>
          <a:prstGeom prst="roundRect">
            <a:avLst/>
          </a:prstGeom>
          <a:solidFill>
            <a:srgbClr val="0070C0"/>
          </a:solidFill>
          <a:ln w="9525">
            <a:noFill/>
          </a:ln>
        </p:spPr>
        <p:txBody>
          <a:bodyPr wrap="square" lIns="45720" tIns="18288" rIns="45720" bIns="18288" anchor="ctr">
            <a:noAutofit/>
          </a:bodyPr>
          <a:p>
            <a:pPr algn="ctr"/>
            <a:r>
              <a:rPr sz="950" b="1" 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Fusion Engine (Weighted Risk + Explainability)</a:t>
            </a:r>
          </a:p>
        </p:txBody>
      </p:sp>
      <p:sp>
        <p:nvSpPr>
          <p:cNvPr id="0" name="DiagArrow"/>
          <p:cNvSpPr/>
          <p:nvPr/>
        </p:nvSpPr>
        <p:spPr>
          <a:xfrm>
            <a:off x="10845000" y="5130000"/>
            <a:ext cx="260000" cy="160000"/>
          </a:xfrm>
          <a:prstGeom prst="downArrow">
            <a:avLst/>
          </a:prstGeom>
          <a:solidFill>
            <a:srgbClr val="7F7F7F"/>
          </a:solidFill>
          <a:ln>
            <a:noFill/>
          </a:ln>
        </p:spPr>
        <p:txBody>
          <a:bodyPr/>
          <a:p>
            <a:endParaRPr lang="en-US"/>
          </a:p>
        </p:txBody>
      </p:sp>
      <p:sp>
        <p:nvSpPr>
          <p:cNvPr id="0" name="DiagBox"/>
          <p:cNvSpPr/>
          <p:nvPr/>
        </p:nvSpPr>
        <p:spPr>
          <a:xfrm>
            <a:off x="9950000" y="5330000"/>
            <a:ext cx="2050000" cy="560000"/>
          </a:xfrm>
          <a:prstGeom prst="roundRect">
            <a:avLst/>
          </a:prstGeom>
          <a:solidFill>
            <a:srgbClr val="2E7D32"/>
          </a:solidFill>
          <a:ln w="9525">
            <a:noFill/>
          </a:ln>
        </p:spPr>
        <p:txBody>
          <a:bodyPr wrap="square" lIns="45720" tIns="18288" rIns="45720" bIns="18288" anchor="ctr">
            <a:noAutofit/>
          </a:bodyPr>
          <a:p>
            <a:pPr algn="ctr"/>
            <a:r>
              <a:rPr sz="950" b="1" 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Trust Score + Explanation (EN / TA / HI)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048616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4874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All core components rely on public datasets (UCI Phishing, PhishTank, FaceForensics++, DFDC, ASVspoof) and pretrained models — no training from scratch required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Modular architecture allows a phased build: URL + email pillars first, deepfake video next, audio and stretch goals last</a:t>
            </a: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Deepfake detectors trained on standard datasets can lose accuracy on unseen or compressed manipulations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Zero-day phishing domains may not match learned patterns; real-time inference latency during a live demo</a:t>
            </a: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baseline="0" b="0" cap="none" dirty="0" sz="2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b="0" cap="none" dirty="0" sz="2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Hybrid blocklist + heuristic detection catches zero-day URLs that pure ML misses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Well-validated pretrained checkpoints reduce training risk; video pillar prioritized, audio kept lightweight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Pre-cached demo inputs alongside a live judge-input mode keep latency low without sacrificing authenticity</a:t>
            </a:r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18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19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[Team Name]</a:t>
            </a:r>
            <a:endParaRPr dirty="0" lang="en-IN"/>
          </a:p>
        </p:txBody>
      </p:sp>
      <p:pic>
        <p:nvPicPr>
          <p:cNvPr id="2097156" name="Picture 2" descr="https://www.sih.gov.in/img1/SIH-Logo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/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048625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4874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baseline="0" b="0" cap="none" dirty="0" sz="2800" i="0" kern="1200" kumimoji="0" lang="en-US" noProof="0" normalizeH="0" spc="0" strike="noStrike" u="none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Directly protects everyday, often non-technical users — WhatsApp-forward recipients, elderly parents, first-time digital-payment users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India lost close to ₹22,500 crore to cyber fraud in 2025 (complaints up 24% to ~2.8M); nearly half of adults have already faced an AI voice-clone or deepfake scam</a:t>
            </a:r>
          </a:p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Social: builds digital trust and literacy through visible, explainable warnings rather than blind blocking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Economic: reduces direct fraud losses for individuals and eases triage load on cybercrime helplines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Scalable: deploys through channels people already use (browser, WhatsApp) — no new behavior required</a:t>
            </a:r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2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28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[Team Name]</a:t>
            </a:r>
            <a:endParaRPr dirty="0" lang="en-IN"/>
          </a:p>
        </p:txBody>
      </p:sp>
      <p:pic>
        <p:nvPicPr>
          <p:cNvPr id="2097157" name="Picture 2" descr="https://www.sih.gov.in/img1/SIH-Logo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/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/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r="5400000" dist="23000" rotWithShape="0">
              <a:srgbClr val="808080">
                <a:alpha val="34999"/>
              </a:srgbClr>
            </a:outerShdw>
          </a:effectLst>
        </p:spPr>
        <p:txBody>
          <a:bodyPr anchor="ctr"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dirty="0" sz="1800" i="0" kern="1200" kumimoji="0" lang="en-US" noProof="0" normalizeH="0" spc="0" strike="noStrike" u="none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04863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eaLnBrk="1" hangingPunct="1"/>
            <a:r>
              <a:rPr b="1" dirty="0" sz="3600" lang="en-US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048634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/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p>
            <a:pPr algn="just" defTabSz="457200" eaLnBrk="1" fontAlgn="base" hangingPunct="1" indent="-342900" latinLnBrk="0" lvl="0" marL="34290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dirty="0" sz="2800" lang="en-US" noProof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baseline="0" b="0" cap="none" dirty="0" sz="2800" i="0" kern="1200" kumimoji="0" lang="en-US" noProof="0" normalizeH="0" spc="0" strike="noStrike" u="none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Datasets: UCI Phishing Websites Dataset · PhishTank · Nazario Phishing Corpus · FaceForensics++ · Celeb-DF · DFDC · ASVspoof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Fraud statistics: CERT-In / I4C annual cybercrime reporting (2025); industry AI-scam impact surveys (2025)</a:t>
            </a:r>
          </a:p>
          <a:p>
            <a:pPr algn="just" indent="-228600" marL="571500">
              <a:buFont typeface="Arial" panose="020B0604020202020204" pitchFamily="34" charset="0"/>
              <a:buChar char="–"/>
            </a:pPr>
            <a:r>
              <a:rPr dirty="0" sz="1300" lang="en-US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Prior art: MesoNet (Afchar et al.), XceptionNet deepfake-detection benchmarks, ASVspoof Challenge series</a:t>
            </a:r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algn="r" defTabSz="4572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baseline="0" b="1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algn="r" defTabSz="4572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baseline="0" b="1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048636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p>
            <a:pPr algn="ctr" defTabSz="4572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aseline="0" b="0" cap="none" sz="1200" i="0" kern="1200" kumimoji="0" lang="en-US" noProof="0" normalizeH="0" spc="0" strike="noStrike" u="none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baseline="0" b="0" cap="none" dirty="0" sz="1200" i="0" kern="1200" kumimoji="0" lang="en-US" noProof="0" normalizeH="0" spc="0" strike="noStrike" u="none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048637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[Team Name]</a:t>
            </a:r>
            <a:endParaRPr dirty="0" lang="en-IN"/>
          </a:p>
        </p:txBody>
      </p:sp>
      <p:pic>
        <p:nvPicPr>
          <p:cNvPr id="2097158" name="Picture 2" descr="https://www.sih.gov.in/img1/SIH-Logo.pn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/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Crowdfunder, Inc.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Investor Pitch Deck Template</dc:title>
  <dc:creator>Crowdfunder</dc:creator>
  <cp:lastModifiedBy>Aicte</cp:lastModifiedBy>
  <dcterms:created xsi:type="dcterms:W3CDTF">2013-12-12T07:46:50Z</dcterms:created>
  <dcterms:modified xsi:type="dcterms:W3CDTF">2026-08-17T08:16:35Z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064fd722a0d34b44adb05b90be2ddcea_22</vt:lpwstr>
  </property>
</Properties>
</file>